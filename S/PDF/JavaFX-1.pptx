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Fira Mono"/>
      <p:regular r:id="rId22"/>
      <p:bold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81">
          <p15:clr>
            <a:srgbClr val="747775"/>
          </p15:clr>
        </p15:guide>
        <p15:guide id="2" orient="horz" pos="824">
          <p15:clr>
            <a:srgbClr val="747775"/>
          </p15:clr>
        </p15:guide>
        <p15:guide id="3" orient="horz" pos="63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39D6EC-7C2F-4207-8B33-58C709AE082A}">
  <a:tblStyle styleId="{4139D6EC-7C2F-4207-8B33-58C709AE08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81"/>
        <p:guide pos="824" orient="horz"/>
        <p:guide pos="63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FiraMono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font" Target="fonts/Fira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2035ad7c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2035ad7c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2035ad7c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2035ad7c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2035ad7c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2035ad7c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2035ad7c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2035ad7c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2035ad7c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2035ad7c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2035ad7c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2035ad7c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38faa9905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38faa9905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2035ad7c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2035ad7c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2035ad7c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2035ad7c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38faa99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538faa990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38faa990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538faa9905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38faa9905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538faa9905_1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38faa990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538faa9905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38faa990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538faa9905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Mono"/>
              <a:buNone/>
              <a:defRPr sz="28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Mono"/>
              <a:buChar char="●"/>
              <a:defRPr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●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●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Scene, </a:t>
            </a:r>
            <a:r>
              <a:rPr lang="zh-TW"/>
              <a:t>Pane, Group, Text, Image, Button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Scene 是 JavaFX 應用程式中視覺內容的容器，用來包裝畫面上的所有 GUI 元件（如 Pane、Button 等）。</a:t>
            </a:r>
            <a:endParaRPr/>
          </a:p>
        </p:txBody>
      </p:sp>
      <p:graphicFrame>
        <p:nvGraphicFramePr>
          <p:cNvPr id="147" name="Google Shape;147;p15"/>
          <p:cNvGraphicFramePr/>
          <p:nvPr/>
        </p:nvGraphicFramePr>
        <p:xfrm>
          <a:off x="856325" y="265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{4139D6EC-7C2F-4207-8B33-58C709AE082A}</a:tableStyleId>
              </a:tblPr>
              <a:tblGrid>
                <a:gridCol w="1186475"/>
                <a:gridCol w="2529200"/>
              </a:tblGrid>
              <a:tr h="29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參數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意義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root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根節點（如 Pane、Group），承載所有 UI 元件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width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畫面寬度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height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lt1"/>
                          </a:solidFill>
                          <a:latin typeface="Fira Mono"/>
                          <a:ea typeface="Fira Mono"/>
                          <a:cs typeface="Fira Mono"/>
                          <a:sym typeface="Fira Mono"/>
                        </a:rPr>
                        <a:t>畫面高度</a:t>
                      </a:r>
                      <a:endParaRPr sz="1200">
                        <a:solidFill>
                          <a:schemeClr val="lt1"/>
                        </a:solidFill>
                        <a:latin typeface="Fira Mono"/>
                        <a:ea typeface="Fira Mono"/>
                        <a:cs typeface="Fira Mono"/>
                        <a:sym typeface="Fira Mon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15"/>
          <p:cNvSpPr txBox="1"/>
          <p:nvPr/>
        </p:nvSpPr>
        <p:spPr>
          <a:xfrm>
            <a:off x="4875300" y="2650675"/>
            <a:ext cx="3461100" cy="18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Pane pane = new Pane();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Button btn = new Button("Click Me");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btn.setLayoutX(100);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btn.setLayoutY(80);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pane.getChildren().add(btn);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Scene scene = new Scene(pane, 300, 200);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stage.setTitle("Pane Example");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stage.setScene(scene);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stage.show();</a:t>
            </a:r>
            <a:endParaRPr sz="10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Scene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29219"/>
          <a:stretch/>
        </p:blipFill>
        <p:spPr>
          <a:xfrm>
            <a:off x="1399275" y="1006150"/>
            <a:ext cx="5319021" cy="3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Pane：排版容器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Pane 是 JavaFX 中最基本的布局容器（layout container），用於放置節點（Node），不會自動幫子元件排版，必須手動設定位置。</a:t>
            </a:r>
            <a:endParaRPr/>
          </a:p>
        </p:txBody>
      </p:sp>
      <p:sp>
        <p:nvSpPr>
          <p:cNvPr id="157" name="Google Shape;157;p16"/>
          <p:cNvSpPr txBox="1"/>
          <p:nvPr>
            <p:ph idx="2" type="body"/>
          </p:nvPr>
        </p:nvSpPr>
        <p:spPr>
          <a:xfrm>
            <a:off x="4905150" y="191850"/>
            <a:ext cx="3921000" cy="47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package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test;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javafx.application.Application;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javafx.scene.Scene;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javafx.scene.control.Button;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javafx.scene.layout.Pane;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javafx.stage.Stage;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javafx.scene.layout.Background;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javafx.scene.layout.BackgroundFill;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javafx.scene.layout.Border;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javafx.scene.layout.BorderStroke;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javafx.scene.layout.BorderStrokeStyle;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javafx.scene.layout.BorderWidths;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javafx.scene.layout.CornerRadii;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javafx.scene.layout.StackPane;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javafx.scene.paint.Color;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javafx.geometry.Insets;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PaneExample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600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600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600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Pane pane =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Pane();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pane.setBorder(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Border(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BorderStroke(Color.</a:t>
            </a:r>
            <a:r>
              <a:rPr i="1" lang="zh-TW" sz="600">
                <a:solidFill>
                  <a:srgbClr val="C77DBB"/>
                </a:solidFill>
                <a:highlight>
                  <a:srgbClr val="1E1F22"/>
                </a:highlight>
              </a:rPr>
              <a:t>HOTPINK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,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        BorderStrokeStyle.</a:t>
            </a:r>
            <a:r>
              <a:rPr i="1" lang="zh-TW" sz="600">
                <a:solidFill>
                  <a:srgbClr val="C77DBB"/>
                </a:solidFill>
                <a:highlight>
                  <a:srgbClr val="1E1F22"/>
                </a:highlight>
              </a:rPr>
              <a:t>SOLID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,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CornerRadii(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30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),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BorderWidths(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10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pane.setBackground(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Background(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BackgroundFill(Color.</a:t>
            </a:r>
            <a:r>
              <a:rPr i="1" lang="zh-TW" sz="600">
                <a:solidFill>
                  <a:srgbClr val="C77DBB"/>
                </a:solidFill>
                <a:highlight>
                  <a:srgbClr val="1E1F22"/>
                </a:highlight>
              </a:rPr>
              <a:t>BLUE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,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CornerRadii(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30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),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       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Insets(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        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        )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Button btn =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Button(</a:t>
            </a:r>
            <a:r>
              <a:rPr lang="zh-TW" sz="600">
                <a:solidFill>
                  <a:srgbClr val="6AAB73"/>
                </a:solidFill>
                <a:highlight>
                  <a:srgbClr val="1E1F22"/>
                </a:highlight>
              </a:rPr>
              <a:t>"Click Me"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btn.setLayoutX(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btn.setLayoutY(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80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pane.getChildren().add(btn);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6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Scene(pane, 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300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600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600">
                <a:solidFill>
                  <a:srgbClr val="6AAB73"/>
                </a:solidFill>
                <a:highlight>
                  <a:srgbClr val="1E1F22"/>
                </a:highlight>
              </a:rPr>
              <a:t>"Pane Example"</a:t>
            </a: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 sz="6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30"/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b="11547" l="3503" r="0" t="38958"/>
          <a:stretch/>
        </p:blipFill>
        <p:spPr>
          <a:xfrm>
            <a:off x="1406050" y="1006150"/>
            <a:ext cx="2486089" cy="3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Group：群組元件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Group 是一種特殊容器，不會參與布局管理，常用來組合多個圖形或節點成為一個整體。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3874" r="0" t="38800"/>
          <a:stretch/>
        </p:blipFill>
        <p:spPr>
          <a:xfrm>
            <a:off x="1399275" y="1006150"/>
            <a:ext cx="3850176" cy="3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javafx.application.Application;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javafx.scene.Group;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javafx.scene.Scene;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javafx.scene.paint.Color;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javafx.scene.shape.Circle;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javafx.scene.text.Text;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javafx.stage.Stage;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GroupExample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800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800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800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Circle circle =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Circle(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150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50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Color.</a:t>
            </a:r>
            <a:r>
              <a:rPr i="1" lang="zh-TW" sz="800">
                <a:solidFill>
                  <a:srgbClr val="C77DBB"/>
                </a:solidFill>
                <a:highlight>
                  <a:srgbClr val="1E1F22"/>
                </a:highlight>
              </a:rPr>
              <a:t>LIGHTBLUE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Text label =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Text(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130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105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800">
                <a:solidFill>
                  <a:srgbClr val="6AAB73"/>
                </a:solidFill>
                <a:highlight>
                  <a:srgbClr val="1E1F22"/>
                </a:highlight>
              </a:rPr>
              <a:t>"Hello!"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Group group =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Group(circle, label);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8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Scene(group, 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300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800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800">
                <a:solidFill>
                  <a:srgbClr val="6AAB73"/>
                </a:solidFill>
                <a:highlight>
                  <a:srgbClr val="1E1F22"/>
                </a:highlight>
              </a:rPr>
              <a:t>"Group Example"</a:t>
            </a: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 sz="8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61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Text：文字顯示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Text 是用來在場景中顯示字串的類別。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可設定位置、字型、顏色、效果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可放入 Group 或 Pane 中作為標示、說明文字</a:t>
            </a:r>
            <a:endParaRPr/>
          </a:p>
        </p:txBody>
      </p:sp>
      <p:sp>
        <p:nvSpPr>
          <p:cNvPr id="173" name="Google Shape;173;p1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javafx.application.Application;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javafx.scene.Scene;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javafx.scene.layout.Pane;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javafx.scene.paint.Color;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javafx.scene.text.Font;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javafx.scene.text.Text;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javafx.stage.Stage;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TextExample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1000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1000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1000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Text text =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Text(</a:t>
            </a:r>
            <a:r>
              <a:rPr lang="zh-TW" sz="1000">
                <a:solidFill>
                  <a:srgbClr val="2AACB8"/>
                </a:solidFill>
                <a:highlight>
                  <a:srgbClr val="1E1F22"/>
                </a:highlight>
              </a:rPr>
              <a:t>50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000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000">
                <a:solidFill>
                  <a:srgbClr val="6AAB73"/>
                </a:solidFill>
                <a:highlight>
                  <a:srgbClr val="1E1F22"/>
                </a:highlight>
              </a:rPr>
              <a:t>"Welcome to JavaFX!"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text.setFont(Font.</a:t>
            </a:r>
            <a:r>
              <a:rPr i="1" lang="zh-TW" sz="1000">
                <a:solidFill>
                  <a:srgbClr val="BCBEC4"/>
                </a:solidFill>
                <a:highlight>
                  <a:srgbClr val="1E1F22"/>
                </a:highlight>
              </a:rPr>
              <a:t>font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(</a:t>
            </a:r>
            <a:r>
              <a:rPr lang="zh-TW" sz="1000">
                <a:solidFill>
                  <a:srgbClr val="6AAB73"/>
                </a:solidFill>
                <a:highlight>
                  <a:srgbClr val="1E1F22"/>
                </a:highlight>
              </a:rPr>
              <a:t>"Arial"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000">
                <a:solidFill>
                  <a:srgbClr val="2AACB8"/>
                </a:solidFill>
                <a:highlight>
                  <a:srgbClr val="1E1F22"/>
                </a:highlight>
              </a:rPr>
              <a:t>24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));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text.setFill(Color.</a:t>
            </a:r>
            <a:r>
              <a:rPr i="1" lang="zh-TW" sz="1000">
                <a:solidFill>
                  <a:srgbClr val="C77DBB"/>
                </a:solidFill>
                <a:highlight>
                  <a:srgbClr val="1E1F22"/>
                </a:highlight>
              </a:rPr>
              <a:t>DARKBLUE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Pane pane =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Pane(text);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Scene(pane, </a:t>
            </a:r>
            <a:r>
              <a:rPr lang="zh-TW" sz="1000">
                <a:solidFill>
                  <a:srgbClr val="2AACB8"/>
                </a:solidFill>
                <a:highlight>
                  <a:srgbClr val="1E1F22"/>
                </a:highlight>
              </a:rPr>
              <a:t>400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000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1000">
                <a:solidFill>
                  <a:srgbClr val="6AAB73"/>
                </a:solidFill>
                <a:highlight>
                  <a:srgbClr val="1E1F22"/>
                </a:highlight>
              </a:rPr>
              <a:t>"Text Example"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10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b="-7" l="0" r="0" t="33122"/>
          <a:stretch/>
        </p:blipFill>
        <p:spPr>
          <a:xfrm>
            <a:off x="1399275" y="1006150"/>
            <a:ext cx="4896134" cy="3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750" y="3121625"/>
            <a:ext cx="3232700" cy="6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Image：顯示圖像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JavaFX 提供 Image 和 ImageView 來載入與顯示圖像。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Image：負責讀取圖片檔案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ImageView：負責顯示圖片（可縮放、旋轉、裁剪）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支援 .jpg, .png, .gif, .bmp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可指定圖像大小、比例、旋轉角度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可直接放入 Scene 或 Pane 內</a:t>
            </a:r>
            <a:endParaRPr/>
          </a:p>
        </p:txBody>
      </p:sp>
      <p:sp>
        <p:nvSpPr>
          <p:cNvPr id="182" name="Google Shape;182;p19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javafx.application.Application;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javafx.scene.Scene;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javafx.scene.image.Image;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javafx.scene.image.ImageView;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javafx.scene.layout.Pane;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javafx.stage.Stage;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ImageExample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700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700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700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</a:t>
            </a: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// 假設在 src 或 resources 資料夾內放了 logo.png 圖檔</a:t>
            </a:r>
            <a:endParaRPr sz="700">
              <a:solidFill>
                <a:srgbClr val="7A7E85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      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Image img =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Image(</a:t>
            </a:r>
            <a:r>
              <a:rPr lang="zh-TW" sz="700">
                <a:solidFill>
                  <a:srgbClr val="6AAB73"/>
                </a:solidFill>
                <a:highlight>
                  <a:srgbClr val="1E1F22"/>
                </a:highlight>
              </a:rPr>
              <a:t>"file:logo.png"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  </a:t>
            </a: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// 本地檔案路徑</a:t>
            </a:r>
            <a:endParaRPr sz="700">
              <a:solidFill>
                <a:srgbClr val="7A7E85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      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ImageView imageView =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ImageView(img);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imageView.setX(</a:t>
            </a:r>
            <a:r>
              <a:rPr lang="zh-TW" sz="700">
                <a:solidFill>
                  <a:srgbClr val="2AACB8"/>
                </a:solidFill>
                <a:highlight>
                  <a:srgbClr val="1E1F22"/>
                </a:highlight>
              </a:rPr>
              <a:t>50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imageView.setY(</a:t>
            </a:r>
            <a:r>
              <a:rPr lang="zh-TW" sz="700">
                <a:solidFill>
                  <a:srgbClr val="2AACB8"/>
                </a:solidFill>
                <a:highlight>
                  <a:srgbClr val="1E1F22"/>
                </a:highlight>
              </a:rPr>
              <a:t>50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imageView.setFitWidth(</a:t>
            </a:r>
            <a:r>
              <a:rPr lang="zh-TW" sz="700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imageView.setPreserveRatio(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true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  </a:t>
            </a: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// 保持圖片比例</a:t>
            </a:r>
            <a:endParaRPr sz="700">
              <a:solidFill>
                <a:srgbClr val="7A7E85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A7E85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7A7E85"/>
                </a:solidFill>
                <a:highlight>
                  <a:srgbClr val="1E1F22"/>
                </a:highlight>
              </a:rPr>
              <a:t>      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Pane pane =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Pane(imageView);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700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Scene(pane, </a:t>
            </a:r>
            <a:r>
              <a:rPr lang="zh-TW" sz="700">
                <a:solidFill>
                  <a:srgbClr val="2AACB8"/>
                </a:solidFill>
                <a:highlight>
                  <a:srgbClr val="1E1F22"/>
                </a:highlight>
              </a:rPr>
              <a:t>300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00">
                <a:solidFill>
                  <a:srgbClr val="2AACB8"/>
                </a:solidFill>
                <a:highlight>
                  <a:srgbClr val="1E1F22"/>
                </a:highlight>
              </a:rPr>
              <a:t>250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700">
                <a:solidFill>
                  <a:srgbClr val="6AAB73"/>
                </a:solidFill>
                <a:highlight>
                  <a:srgbClr val="1E1F22"/>
                </a:highlight>
              </a:rPr>
              <a:t>"Image Example"</a:t>
            </a: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 sz="700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700">
              <a:solidFill>
                <a:srgbClr val="CF8E6D"/>
              </a:solidFill>
              <a:highlight>
                <a:srgbClr val="1E1F22"/>
              </a:highlight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21216"/>
          <a:stretch/>
        </p:blipFill>
        <p:spPr>
          <a:xfrm>
            <a:off x="1399275" y="1006150"/>
            <a:ext cx="3736524" cy="5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2350" y="3776075"/>
            <a:ext cx="2605700" cy="11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Button：按鈕元件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Button 是互動式的控制元件，可設定文字、圖示、事件處理器（例如點擊事件）。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TW" sz="1200"/>
              <a:t>可設定事件（setOnAction()）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 sz="1200"/>
              <a:t>可設定文字、圖示、CSS 樣式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 sz="1200"/>
              <a:t>可以搭配 Lambda 寫法更簡潔</a:t>
            </a:r>
            <a:endParaRPr sz="1200"/>
          </a:p>
        </p:txBody>
      </p:sp>
      <p:sp>
        <p:nvSpPr>
          <p:cNvPr id="191" name="Google Shape;191;p20"/>
          <p:cNvSpPr txBox="1"/>
          <p:nvPr>
            <p:ph idx="2" type="body"/>
          </p:nvPr>
        </p:nvSpPr>
        <p:spPr>
          <a:xfrm>
            <a:off x="4933226" y="1567550"/>
            <a:ext cx="3846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javafx.application.Application;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javafx.scene.Scene;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javafx.scene.control.Button;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javafx.scene.layout.Pane;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javafx.scene.text.Text;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import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javafx.stage.Stage;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ButtonExample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725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725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725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Text message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Text(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150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Button btn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Button(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"Say Hello"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btn.setLayoutX(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btn.setLayoutY(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80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btn.setOnAction(e -&gt; </a:t>
            </a:r>
            <a:r>
              <a:rPr lang="zh-TW" sz="725">
                <a:solidFill>
                  <a:srgbClr val="C77DBB"/>
                </a:solidFill>
                <a:highlight>
                  <a:srgbClr val="1E1F22"/>
                </a:highlight>
              </a:rPr>
              <a:t>message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.setText(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"Hello, JavaFX!"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Pane pane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Pane(btn, message);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Scene(pane,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300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"Button Example"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913"/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275" y="3244275"/>
            <a:ext cx="3082847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4">
            <a:alphaModFix/>
          </a:blip>
          <a:srcRect b="23211" l="0" r="0" t="28372"/>
          <a:stretch/>
        </p:blipFill>
        <p:spPr>
          <a:xfrm>
            <a:off x="1399275" y="1006150"/>
            <a:ext cx="3481555" cy="3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" name="Google Shape;199;p21"/>
          <p:cNvGrpSpPr/>
          <p:nvPr/>
        </p:nvGrpSpPr>
        <p:grpSpPr>
          <a:xfrm>
            <a:off x="374332" y="1407087"/>
            <a:ext cx="3778785" cy="2952143"/>
            <a:chOff x="1297500" y="1399800"/>
            <a:chExt cx="4493205" cy="3530849"/>
          </a:xfrm>
        </p:grpSpPr>
        <p:pic>
          <p:nvPicPr>
            <p:cNvPr id="200" name="Google Shape;20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97500" y="1399800"/>
              <a:ext cx="4493205" cy="3530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1"/>
            <p:cNvSpPr/>
            <p:nvPr/>
          </p:nvSpPr>
          <p:spPr>
            <a:xfrm>
              <a:off x="2520925" y="4017300"/>
              <a:ext cx="511200" cy="285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Mono"/>
                <a:ea typeface="Fira Mono"/>
                <a:cs typeface="Fira Mono"/>
                <a:sym typeface="Fira Mono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2827200" y="4422450"/>
              <a:ext cx="1221300" cy="285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Mono"/>
                <a:ea typeface="Fira Mono"/>
                <a:cs typeface="Fira Mono"/>
                <a:sym typeface="Fira Mono"/>
              </a:endParaRPr>
            </a:p>
          </p:txBody>
        </p:sp>
      </p:grpSp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5471" y="1407075"/>
            <a:ext cx="4282400" cy="164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5502325" y="2561050"/>
            <a:ext cx="1555200" cy="2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Mono"/>
              <a:ea typeface="Fira Mono"/>
              <a:cs typeface="Fira Mono"/>
              <a:sym typeface="Fira Mono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621" y="3286446"/>
            <a:ext cx="2851375" cy="17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5138175" y="3988350"/>
            <a:ext cx="2081100" cy="23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Mono"/>
              <a:ea typeface="Fira Mono"/>
              <a:cs typeface="Fira Mono"/>
              <a:sym typeface="Fira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綜合範例</a:t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public class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DemoApp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extends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Application {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</a:t>
            </a:r>
            <a:r>
              <a:rPr lang="zh-TW" sz="725">
                <a:solidFill>
                  <a:srgbClr val="B3AE60"/>
                </a:solidFill>
                <a:highlight>
                  <a:srgbClr val="1E1F22"/>
                </a:highlight>
              </a:rPr>
              <a:t>@Override</a:t>
            </a:r>
            <a:endParaRPr sz="725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3AE60"/>
                </a:solidFill>
                <a:highlight>
                  <a:srgbClr val="1E1F22"/>
                </a:highlight>
              </a:rPr>
              <a:t>  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public void </a:t>
            </a:r>
            <a:r>
              <a:rPr lang="zh-TW" sz="725">
                <a:solidFill>
                  <a:srgbClr val="56A8F5"/>
                </a:solidFill>
                <a:highlight>
                  <a:srgbClr val="1E1F22"/>
                </a:highlight>
              </a:rPr>
              <a:t>start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(Stage stage) {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Text txt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Text(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60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120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"Initial"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txt.setFont(Font.font(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"Arial"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18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Button btn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Button(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"Update Text"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btn.setLayoutX(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60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btn.setLayoutY(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50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btn.setOnAction(e -&gt; </a:t>
            </a:r>
            <a:r>
              <a:rPr lang="zh-TW" sz="725">
                <a:solidFill>
                  <a:srgbClr val="C77DBB"/>
                </a:solidFill>
                <a:highlight>
                  <a:srgbClr val="1E1F22"/>
                </a:highlight>
              </a:rPr>
              <a:t>txt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.setText(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"Hello, JavaFX!"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Pane root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Pane(btn, txt);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Scene scene = </a:t>
            </a:r>
            <a:r>
              <a:rPr lang="zh-TW" sz="7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Scene(root,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300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725">
                <a:solidFill>
                  <a:srgbClr val="2AACB8"/>
                </a:solidFill>
                <a:highlight>
                  <a:srgbClr val="1E1F22"/>
                </a:highlight>
              </a:rPr>
              <a:t>200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stage.setTitle(</a:t>
            </a:r>
            <a:r>
              <a:rPr lang="zh-TW" sz="725">
                <a:solidFill>
                  <a:srgbClr val="6AAB73"/>
                </a:solidFill>
                <a:highlight>
                  <a:srgbClr val="1E1F22"/>
                </a:highlight>
              </a:rPr>
              <a:t>"JavaFX Demo"</a:t>
            </a: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stage.setScene(scene);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    stage.show();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   }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zh-TW" sz="725">
                <a:solidFill>
                  <a:srgbClr val="BCBEC4"/>
                </a:solidFill>
                <a:highlight>
                  <a:srgbClr val="1E1F22"/>
                </a:highlight>
              </a:rPr>
              <a:t>}</a:t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sz="7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725">
              <a:solidFill>
                <a:srgbClr val="CF8E6D"/>
              </a:solidFill>
              <a:highlight>
                <a:srgbClr val="1E1F22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25" y="1183500"/>
            <a:ext cx="6262639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ctrTitle"/>
          </p:nvPr>
        </p:nvSpPr>
        <p:spPr>
          <a:xfrm>
            <a:off x="3026550" y="1590450"/>
            <a:ext cx="61656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zh-TW"/>
              <a:t>推薦方法: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zh-TW"/>
              <a:t>用</a:t>
            </a:r>
            <a:r>
              <a:rPr lang="zh-TW"/>
              <a:t>fxml元件與 Java綁定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fxml元件 與 Java綁定</a:t>
            </a:r>
            <a:endParaRPr/>
          </a:p>
        </p:txBody>
      </p:sp>
      <p:sp>
        <p:nvSpPr>
          <p:cNvPr id="229" name="Google Shape;229;p25"/>
          <p:cNvSpPr txBox="1"/>
          <p:nvPr>
            <p:ph idx="4294967295" type="body"/>
          </p:nvPr>
        </p:nvSpPr>
        <p:spPr>
          <a:xfrm>
            <a:off x="648750" y="2698450"/>
            <a:ext cx="3764400" cy="16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Text message = </a:t>
            </a:r>
            <a:r>
              <a:rPr lang="zh-TW" sz="11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Text(</a:t>
            </a:r>
            <a:r>
              <a:rPr lang="zh-TW" sz="1125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125">
                <a:solidFill>
                  <a:srgbClr val="2AACB8"/>
                </a:solidFill>
                <a:highlight>
                  <a:srgbClr val="1E1F22"/>
                </a:highlight>
              </a:rPr>
              <a:t>150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125">
                <a:solidFill>
                  <a:srgbClr val="6AAB73"/>
                </a:solidFill>
                <a:highlight>
                  <a:srgbClr val="1E1F22"/>
                </a:highlight>
              </a:rPr>
              <a:t>""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1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message.setFont(Font.font(</a:t>
            </a:r>
            <a:r>
              <a:rPr lang="zh-TW" sz="1125">
                <a:solidFill>
                  <a:srgbClr val="6AAB73"/>
                </a:solidFill>
                <a:highlight>
                  <a:srgbClr val="1E1F22"/>
                </a:highlight>
              </a:rPr>
              <a:t>"Arial"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, </a:t>
            </a:r>
            <a:r>
              <a:rPr lang="zh-TW" sz="1125">
                <a:solidFill>
                  <a:srgbClr val="2AACB8"/>
                </a:solidFill>
                <a:highlight>
                  <a:srgbClr val="1E1F22"/>
                </a:highlight>
              </a:rPr>
              <a:t>18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));</a:t>
            </a:r>
            <a:endParaRPr sz="11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1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Button btn = </a:t>
            </a:r>
            <a:r>
              <a:rPr lang="zh-TW" sz="1125">
                <a:solidFill>
                  <a:srgbClr val="CF8E6D"/>
                </a:solidFill>
                <a:highlight>
                  <a:srgbClr val="1E1F22"/>
                </a:highlight>
              </a:rPr>
              <a:t>new 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Button(</a:t>
            </a:r>
            <a:r>
              <a:rPr lang="zh-TW" sz="1125">
                <a:solidFill>
                  <a:srgbClr val="6AAB73"/>
                </a:solidFill>
                <a:highlight>
                  <a:srgbClr val="1E1F22"/>
                </a:highlight>
              </a:rPr>
              <a:t>"Say Hello"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1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btn.setLayoutX(</a:t>
            </a:r>
            <a:r>
              <a:rPr lang="zh-TW" sz="1125">
                <a:solidFill>
                  <a:srgbClr val="2AACB8"/>
                </a:solidFill>
                <a:highlight>
                  <a:srgbClr val="1E1F22"/>
                </a:highlight>
              </a:rPr>
              <a:t>100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125">
              <a:solidFill>
                <a:srgbClr val="BCBEC4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btn.setLayoutY(</a:t>
            </a:r>
            <a:r>
              <a:rPr lang="zh-TW" sz="1125">
                <a:solidFill>
                  <a:srgbClr val="2AACB8"/>
                </a:solidFill>
                <a:highlight>
                  <a:srgbClr val="1E1F22"/>
                </a:highlight>
              </a:rPr>
              <a:t>80</a:t>
            </a:r>
            <a:r>
              <a:rPr lang="zh-TW" sz="1125">
                <a:solidFill>
                  <a:srgbClr val="BCBEC4"/>
                </a:solidFill>
                <a:highlight>
                  <a:srgbClr val="1E1F22"/>
                </a:highlight>
              </a:rPr>
              <a:t>);</a:t>
            </a:r>
            <a:endParaRPr sz="1313"/>
          </a:p>
        </p:txBody>
      </p:sp>
      <p:sp>
        <p:nvSpPr>
          <p:cNvPr id="230" name="Google Shape;230;p25"/>
          <p:cNvSpPr txBox="1"/>
          <p:nvPr>
            <p:ph idx="1" type="body"/>
          </p:nvPr>
        </p:nvSpPr>
        <p:spPr>
          <a:xfrm>
            <a:off x="628650" y="1369225"/>
            <a:ext cx="67830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1700"/>
              <a:t>前面新增一個元件都要寫一堆code</a:t>
            </a:r>
            <a:br>
              <a:rPr lang="zh-TW" sz="1700"/>
            </a:br>
            <a:r>
              <a:rPr lang="zh-TW" sz="1700"/>
              <a:t>又醜又長，不想一個一個寫</a:t>
            </a:r>
            <a:br>
              <a:rPr lang="zh-TW" sz="1700"/>
            </a:br>
            <a:r>
              <a:rPr lang="zh-TW" sz="1700"/>
              <a:t>若使用SceneBuilder編輯fxml檔案，就可以輕鬆在</a:t>
            </a:r>
            <a:r>
              <a:rPr lang="zh-TW" sz="1700"/>
              <a:t>SceneBuilder都先編輯好，再用java讀取即可</a:t>
            </a:r>
            <a:endParaRPr sz="1700"/>
          </a:p>
        </p:txBody>
      </p:sp>
      <p:sp>
        <p:nvSpPr>
          <p:cNvPr id="231" name="Google Shape;231;p25"/>
          <p:cNvSpPr txBox="1"/>
          <p:nvPr>
            <p:ph idx="4294967295" type="body"/>
          </p:nvPr>
        </p:nvSpPr>
        <p:spPr>
          <a:xfrm>
            <a:off x="5981350" y="3154425"/>
            <a:ext cx="25953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3AE60"/>
                </a:solidFill>
                <a:highlight>
                  <a:srgbClr val="1E1F22"/>
                </a:highlight>
              </a:rPr>
              <a:t>@FXML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private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Text </a:t>
            </a:r>
            <a:r>
              <a:rPr lang="zh-TW" sz="1000">
                <a:solidFill>
                  <a:srgbClr val="C77DBB"/>
                </a:solidFill>
                <a:highlight>
                  <a:srgbClr val="1E1F22"/>
                </a:highlight>
              </a:rPr>
              <a:t>text1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;</a:t>
            </a:r>
            <a:endParaRPr sz="1000">
              <a:solidFill>
                <a:srgbClr val="B3AE60"/>
              </a:solidFill>
              <a:highlight>
                <a:srgbClr val="1E1F22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B3AE60"/>
                </a:solidFill>
                <a:highlight>
                  <a:srgbClr val="1E1F22"/>
                </a:highlight>
              </a:rPr>
              <a:t>@FXML </a:t>
            </a:r>
            <a:r>
              <a:rPr lang="zh-TW" sz="1000">
                <a:solidFill>
                  <a:srgbClr val="CF8E6D"/>
                </a:solidFill>
                <a:highlight>
                  <a:srgbClr val="1E1F22"/>
                </a:highlight>
              </a:rPr>
              <a:t>private 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Button </a:t>
            </a:r>
            <a:r>
              <a:rPr lang="zh-TW" sz="1000">
                <a:solidFill>
                  <a:srgbClr val="C77DBB"/>
                </a:solidFill>
                <a:highlight>
                  <a:srgbClr val="1E1F22"/>
                </a:highlight>
              </a:rPr>
              <a:t>btn1</a:t>
            </a:r>
            <a:r>
              <a:rPr lang="zh-TW" sz="1000">
                <a:solidFill>
                  <a:srgbClr val="BCBEC4"/>
                </a:solidFill>
                <a:highlight>
                  <a:srgbClr val="1E1F22"/>
                </a:highlight>
              </a:rPr>
              <a:t>;</a:t>
            </a:r>
            <a:endParaRPr sz="725">
              <a:solidFill>
                <a:srgbClr val="CF8E6D"/>
              </a:solidFill>
              <a:highlight>
                <a:srgbClr val="1E1F22"/>
              </a:highlight>
            </a:endParaRPr>
          </a:p>
        </p:txBody>
      </p:sp>
      <p:cxnSp>
        <p:nvCxnSpPr>
          <p:cNvPr id="232" name="Google Shape;232;p25"/>
          <p:cNvCxnSpPr/>
          <p:nvPr/>
        </p:nvCxnSpPr>
        <p:spPr>
          <a:xfrm>
            <a:off x="4625575" y="3467775"/>
            <a:ext cx="107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fxml元件 與 Java綁定</a:t>
            </a:r>
            <a:endParaRPr/>
          </a:p>
        </p:txBody>
      </p:sp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TW"/>
              <a:t>1) SceneBuilder 中設定 java class path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package名稱.class名稱 (有package時)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class名稱 (default package時) </a:t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239" name="Google Shape;239;p26"/>
          <p:cNvGrpSpPr/>
          <p:nvPr/>
        </p:nvGrpSpPr>
        <p:grpSpPr>
          <a:xfrm>
            <a:off x="4108413" y="3377163"/>
            <a:ext cx="2085975" cy="676275"/>
            <a:chOff x="7144863" y="2395450"/>
            <a:chExt cx="2085975" cy="676275"/>
          </a:xfrm>
        </p:grpSpPr>
        <p:pic>
          <p:nvPicPr>
            <p:cNvPr id="240" name="Google Shape;24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44863" y="2395450"/>
              <a:ext cx="2085975" cy="676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6"/>
            <p:cNvSpPr/>
            <p:nvPr/>
          </p:nvSpPr>
          <p:spPr>
            <a:xfrm>
              <a:off x="7334695" y="2822425"/>
              <a:ext cx="1264500" cy="2493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26"/>
          <p:cNvGrpSpPr/>
          <p:nvPr/>
        </p:nvGrpSpPr>
        <p:grpSpPr>
          <a:xfrm>
            <a:off x="6524129" y="1051485"/>
            <a:ext cx="2211168" cy="3581130"/>
            <a:chOff x="4315200" y="560863"/>
            <a:chExt cx="2628900" cy="4257675"/>
          </a:xfrm>
        </p:grpSpPr>
        <p:pic>
          <p:nvPicPr>
            <p:cNvPr id="243" name="Google Shape;24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15200" y="560863"/>
              <a:ext cx="2628900" cy="4257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6"/>
            <p:cNvSpPr/>
            <p:nvPr/>
          </p:nvSpPr>
          <p:spPr>
            <a:xfrm>
              <a:off x="4394775" y="3857950"/>
              <a:ext cx="1176000" cy="208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fxml元件 與 Java綁定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628650" y="1440650"/>
            <a:ext cx="4354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TW"/>
              <a:t>2) SceneBuilder 中設定 fx:id </a:t>
            </a:r>
            <a:r>
              <a:rPr lang="zh-TW">
                <a:solidFill>
                  <a:srgbClr val="FF0000"/>
                </a:solidFill>
              </a:rPr>
              <a:t>(注意非id)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點選元件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Code-&gt; fx:id 中給予</a:t>
            </a:r>
            <a:r>
              <a:rPr lang="zh-TW"/>
              <a:t>變數</a:t>
            </a:r>
            <a:r>
              <a:rPr lang="zh-TW"/>
              <a:t>名稱 </a:t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/>
              <a:t>	</a:t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/>
              <a:t>Code-&gt; </a:t>
            </a:r>
            <a:r>
              <a:rPr lang="zh-TW"/>
              <a:t>On Action</a:t>
            </a:r>
            <a:r>
              <a:rPr lang="zh-TW"/>
              <a:t>(點按鈕)</a:t>
            </a:r>
            <a:r>
              <a:rPr lang="zh-TW"/>
              <a:t> </a:t>
            </a:r>
            <a:r>
              <a:rPr lang="zh-TW"/>
              <a:t>中給予要呼叫的函式名稱</a:t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251" name="Google Shape;251;p27"/>
          <p:cNvGrpSpPr/>
          <p:nvPr/>
        </p:nvGrpSpPr>
        <p:grpSpPr>
          <a:xfrm>
            <a:off x="2701237" y="1006138"/>
            <a:ext cx="6019662" cy="3775538"/>
            <a:chOff x="2558337" y="415663"/>
            <a:chExt cx="6019662" cy="3775538"/>
          </a:xfrm>
        </p:grpSpPr>
        <p:pic>
          <p:nvPicPr>
            <p:cNvPr id="252" name="Google Shape;25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68800" y="415663"/>
              <a:ext cx="3509200" cy="3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7"/>
            <p:cNvSpPr/>
            <p:nvPr/>
          </p:nvSpPr>
          <p:spPr>
            <a:xfrm>
              <a:off x="5092950" y="2013175"/>
              <a:ext cx="697500" cy="3912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279625" y="1434550"/>
              <a:ext cx="2176200" cy="2394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5" name="Google Shape;255;p27"/>
            <p:cNvPicPr preferRelativeResize="0"/>
            <p:nvPr/>
          </p:nvPicPr>
          <p:blipFill rotWithShape="1">
            <a:blip r:embed="rId4">
              <a:alphaModFix/>
            </a:blip>
            <a:srcRect b="0" l="0" r="4617" t="4251"/>
            <a:stretch/>
          </p:blipFill>
          <p:spPr>
            <a:xfrm>
              <a:off x="2558337" y="2355825"/>
              <a:ext cx="2424525" cy="1835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325" y="1622000"/>
            <a:ext cx="4469100" cy="23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fxml元件 與 Java綁定</a:t>
            </a:r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628650" y="1369222"/>
            <a:ext cx="78867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zh-TW"/>
              <a:t>3) 程式碼中綁定元件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@FXML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/>
              <a:t>(權限) (元件類別) (fx:id名稱)</a:t>
            </a:r>
            <a:endParaRPr/>
          </a:p>
          <a:p>
            <a:pPr indent="-203200" lvl="1" marL="520700" rtl="0" algn="l">
              <a:spcBef>
                <a:spcPts val="120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@FXML</a:t>
            </a:r>
            <a:endParaRPr/>
          </a:p>
          <a:p>
            <a:pPr indent="-203200" lvl="1" marL="520700" rtl="0" algn="l">
              <a:spcBef>
                <a:spcPts val="400"/>
              </a:spcBef>
              <a:spcAft>
                <a:spcPts val="1200"/>
              </a:spcAft>
              <a:buSzPts val="1800"/>
              <a:buChar char="○"/>
            </a:pPr>
            <a:r>
              <a:rPr lang="zh-TW"/>
              <a:t>(權限) (呼叫函式本體)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